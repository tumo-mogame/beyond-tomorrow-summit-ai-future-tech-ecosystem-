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270248" y="1188720"/>
            <a:ext cx="3657600" cy="457200"/>
          </a:xfrm>
          <a:prstGeom prst="roundRect">
            <a:avLst/>
          </a:prstGeom>
          <a:solidFill>
            <a:srgbClr val="0F0F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Segoe UI"/>
              </a:rPr>
              <a:t>BEYOND TOMORROW SUMMIT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920240"/>
            <a:ext cx="10360152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200" b="1">
                <a:solidFill>
                  <a:srgbClr val="FFFFFF"/>
                </a:solidFill>
                <a:latin typeface="Georgia"/>
              </a:rPr>
              <a:t>AEGIS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200400"/>
            <a:ext cx="10360152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" b="1">
                <a:solidFill>
                  <a:srgbClr val="FFFFFF"/>
                </a:solidFill>
                <a:latin typeface="Georgia"/>
              </a:rPr>
              <a:t>Stop scams before they happen.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4114800"/>
            <a:ext cx="8531352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600" b="0">
                <a:solidFill>
                  <a:srgbClr val="A4A4AC"/>
                </a:solidFill>
                <a:latin typeface="Segoe UI"/>
              </a:rPr>
              <a:t>An AI guardian that detects manipulation in any conversation — voice, SMS, or chat — and intervenes in real time to protect vulnerable people and their money.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6035040"/>
            <a:ext cx="1036015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A4A4AC"/>
                </a:solidFill>
                <a:latin typeface="Segoe UI"/>
              </a:rPr>
              <a:t>Cybersecurity  ×  Fintech  ×  Health      |      Powered by AI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>
                <a:solidFill>
                  <a:srgbClr val="FFFFFF"/>
                </a:solidFill>
                <a:latin typeface="Segoe UI"/>
              </a:rPr>
              <a:t>It starts with a phone call.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737360"/>
            <a:ext cx="10515600" cy="3291840"/>
          </a:xfrm>
          <a:prstGeom prst="roundRect">
            <a:avLst/>
          </a:prstGeom>
          <a:solidFill>
            <a:srgbClr val="0F0F11"/>
          </a:solidFill>
          <a:ln w="12700">
            <a:solidFill>
              <a:srgbClr val="1E27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80160" y="2103120"/>
            <a:ext cx="9601200" cy="2743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2800" b="1">
                <a:solidFill>
                  <a:srgbClr val="FFFFFF"/>
                </a:solidFill>
                <a:latin typeface="Segoe UI"/>
              </a:rPr>
              <a:t>“Margaret, 72, gets a call. It’s her grandson’s voice.</a:t>
            </a:r>
          </a:p>
          <a:p>
            <a:pPr algn="l">
              <a:lnSpc>
                <a:spcPct val="130000"/>
              </a:lnSpc>
            </a:pPr>
            <a:r>
              <a:rPr sz="2800" b="1">
                <a:solidFill>
                  <a:srgbClr val="FFFFFF"/>
                </a:solidFill>
                <a:latin typeface="Segoe UI"/>
              </a:rPr>
              <a:t>He’s in jail. He needs $4,000 — now.</a:t>
            </a:r>
          </a:p>
          <a:p>
            <a:pPr algn="l">
              <a:lnSpc>
                <a:spcPct val="130000"/>
              </a:lnSpc>
            </a:pPr>
            <a:r>
              <a:rPr sz="2800" b="1">
                <a:solidFill>
                  <a:srgbClr val="FFFFFF"/>
                </a:solidFill>
                <a:latin typeface="Segoe UI"/>
              </a:rPr>
              <a:t>And please… don’t tell mom.”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303520"/>
            <a:ext cx="10515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>
                <a:solidFill>
                  <a:srgbClr val="E0B448"/>
                </a:solidFill>
                <a:latin typeface="Segoe UI"/>
              </a:rPr>
              <a:t>The voice is perfect. It’s also completely fake — cloned from 3 seconds of audio.</a:t>
            </a:r>
          </a:p>
          <a:p>
            <a:pPr algn="l">
              <a:lnSpc>
                <a:spcPct val="120000"/>
              </a:lnSpc>
            </a:pPr>
            <a:r>
              <a:rPr sz="1800" b="0">
                <a:solidFill>
                  <a:srgbClr val="E0B448"/>
                </a:solidFill>
                <a:latin typeface="Segoe UI"/>
              </a:rPr>
              <a:t>This happens every 5 minutes.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FFFFFF"/>
                </a:solidFill>
                <a:latin typeface="Segoe UI"/>
              </a:rPr>
              <a:t>AI made scams infinitely scalable. Our defenses didn’t keep up.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2011680"/>
            <a:ext cx="2514600" cy="2560320"/>
          </a:xfrm>
          <a:prstGeom prst="roundRect">
            <a:avLst/>
          </a:prstGeom>
          <a:solidFill>
            <a:srgbClr val="0F0F11"/>
          </a:solidFill>
          <a:ln w="12700">
            <a:solidFill>
              <a:srgbClr val="1E27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2468880"/>
            <a:ext cx="2514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3400" b="1">
                <a:solidFill>
                  <a:srgbClr val="F0613F"/>
                </a:solidFill>
                <a:latin typeface="Segoe UI"/>
              </a:rPr>
              <a:t>$40B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474720"/>
            <a:ext cx="21488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0">
                <a:solidFill>
                  <a:srgbClr val="A4A4AC"/>
                </a:solidFill>
                <a:latin typeface="Segoe UI"/>
              </a:rPr>
              <a:t>projected AI-fraud losses by 2027 (Deloitte)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56432" y="2011680"/>
            <a:ext cx="2514600" cy="2560320"/>
          </a:xfrm>
          <a:prstGeom prst="roundRect">
            <a:avLst/>
          </a:prstGeom>
          <a:solidFill>
            <a:srgbClr val="0F0F11"/>
          </a:solidFill>
          <a:ln w="12700">
            <a:solidFill>
              <a:srgbClr val="1E27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56432" y="2468880"/>
            <a:ext cx="2514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3400" b="1">
                <a:solidFill>
                  <a:srgbClr val="E0B448"/>
                </a:solidFill>
                <a:latin typeface="Segoe UI"/>
              </a:rPr>
              <a:t>3 sec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39312" y="3474720"/>
            <a:ext cx="21488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0">
                <a:solidFill>
                  <a:srgbClr val="A4A4AC"/>
                </a:solidFill>
                <a:latin typeface="Segoe UI"/>
              </a:rPr>
              <a:t>of audio to clone a voice — 70% can’t tell (AARP)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89904" y="2011680"/>
            <a:ext cx="2514600" cy="2560320"/>
          </a:xfrm>
          <a:prstGeom prst="roundRect">
            <a:avLst/>
          </a:prstGeom>
          <a:solidFill>
            <a:srgbClr val="0F0F11"/>
          </a:solidFill>
          <a:ln w="12700">
            <a:solidFill>
              <a:srgbClr val="1E27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089904" y="2468880"/>
            <a:ext cx="2514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3400" b="1">
                <a:solidFill>
                  <a:srgbClr val="E0B448"/>
                </a:solidFill>
                <a:latin typeface="Segoe UI"/>
              </a:rPr>
              <a:t>77%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72784" y="3474720"/>
            <a:ext cx="21488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0">
                <a:solidFill>
                  <a:srgbClr val="A4A4AC"/>
                </a:solidFill>
                <a:latin typeface="Segoe UI"/>
              </a:rPr>
              <a:t>of voice-clone scam victims lose money (McAfee)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723376" y="2011680"/>
            <a:ext cx="2514600" cy="2560320"/>
          </a:xfrm>
          <a:prstGeom prst="roundRect">
            <a:avLst/>
          </a:prstGeom>
          <a:solidFill>
            <a:srgbClr val="0F0F11"/>
          </a:solidFill>
          <a:ln w="12700">
            <a:solidFill>
              <a:srgbClr val="1E27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723376" y="2468880"/>
            <a:ext cx="2514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3400" b="1">
                <a:solidFill>
                  <a:srgbClr val="F0613F"/>
                </a:solidFill>
                <a:latin typeface="Segoe UI"/>
              </a:rPr>
              <a:t>every 5 min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06256" y="3474720"/>
            <a:ext cx="21488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0">
                <a:solidFill>
                  <a:srgbClr val="A4A4AC"/>
                </a:solidFill>
                <a:latin typeface="Segoe UI"/>
              </a:rPr>
              <a:t>a deepfake fraud attempt occurs (Entrust)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5120640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Segoe UI"/>
              </a:rPr>
              <a:t>This isn’t a future problem. It’s happening now — to the people we love most.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FFFFFF"/>
                </a:solidFill>
                <a:latin typeface="Segoe UI"/>
              </a:rPr>
              <a:t>Why today’s defenses fail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828800"/>
            <a:ext cx="10515600" cy="1280160"/>
          </a:xfrm>
          <a:prstGeom prst="roundRect">
            <a:avLst/>
          </a:prstGeom>
          <a:solidFill>
            <a:srgbClr val="0F0F11"/>
          </a:solidFill>
          <a:ln w="12700">
            <a:solidFill>
              <a:srgbClr val="1E27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88720" y="1993392"/>
            <a:ext cx="365760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F0613F"/>
                </a:solidFill>
                <a:latin typeface="Segoe UI"/>
              </a:rPr>
              <a:t>Reactive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0" y="1993392"/>
            <a:ext cx="640080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>
                <a:solidFill>
                  <a:srgbClr val="A4A4AC"/>
                </a:solidFill>
                <a:latin typeface="Segoe UI"/>
              </a:rPr>
              <a:t>Banks catch fraud AFTER the money is gone. The loss already happened.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3337560"/>
            <a:ext cx="10515600" cy="1280160"/>
          </a:xfrm>
          <a:prstGeom prst="roundRect">
            <a:avLst/>
          </a:prstGeom>
          <a:solidFill>
            <a:srgbClr val="0F0F11"/>
          </a:solidFill>
          <a:ln w="12700">
            <a:solidFill>
              <a:srgbClr val="1E27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3502152"/>
            <a:ext cx="365760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F0613F"/>
                </a:solidFill>
                <a:latin typeface="Segoe UI"/>
              </a:rPr>
              <a:t>Keyword-based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0" y="3502152"/>
            <a:ext cx="640080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>
                <a:solidFill>
                  <a:srgbClr val="A4A4AC"/>
                </a:solidFill>
                <a:latin typeface="Segoe UI"/>
              </a:rPr>
              <a:t>AI scams rewrite themselves endlessly and walk right past filters.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4846320"/>
            <a:ext cx="10515600" cy="1280160"/>
          </a:xfrm>
          <a:prstGeom prst="roundRect">
            <a:avLst/>
          </a:prstGeom>
          <a:solidFill>
            <a:srgbClr val="0F0F11"/>
          </a:solidFill>
          <a:ln w="12700">
            <a:solidFill>
              <a:srgbClr val="1E27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88720" y="5010912"/>
            <a:ext cx="365760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F0613F"/>
                </a:solidFill>
                <a:latin typeface="Segoe UI"/>
              </a:rPr>
              <a:t>No human moment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0" y="5010912"/>
            <a:ext cx="640080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>
                <a:solidFill>
                  <a:srgbClr val="A4A4AC"/>
                </a:solidFill>
                <a:latin typeface="Segoe UI"/>
              </a:rPr>
              <a:t>The victim is alone with the attacker. Nobody steps in.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914400"/>
            <a:ext cx="10515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4400" b="1">
                <a:solidFill>
                  <a:srgbClr val="FFFFFF"/>
                </a:solidFill>
                <a:latin typeface="Georgia"/>
              </a:rPr>
              <a:t>Meet Aegis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011680"/>
            <a:ext cx="94183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2200" b="1">
                <a:solidFill>
                  <a:srgbClr val="FFFFFF"/>
                </a:solidFill>
                <a:latin typeface="Segoe UI"/>
              </a:rPr>
              <a:t>An AI guardian that detects manipulation in real time — and intervenes before money is lost.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737360" y="3657600"/>
            <a:ext cx="2743200" cy="2011680"/>
          </a:xfrm>
          <a:prstGeom prst="roundRect">
            <a:avLst/>
          </a:prstGeom>
          <a:solidFill>
            <a:srgbClr val="0F0F11"/>
          </a:solidFill>
          <a:ln w="12700">
            <a:solidFill>
              <a:srgbClr val="1E27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737360" y="3977639"/>
            <a:ext cx="27432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3400" b="1">
                <a:solidFill>
                  <a:srgbClr val="A4A4AC"/>
                </a:solidFill>
                <a:latin typeface="Consolas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37360" y="4892040"/>
            <a:ext cx="27432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>
                <a:solidFill>
                  <a:srgbClr val="7FD6A6"/>
                </a:solidFill>
                <a:latin typeface="Segoe UI"/>
              </a:rPr>
              <a:t>DETECT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257800" y="3657600"/>
            <a:ext cx="2743200" cy="2011680"/>
          </a:xfrm>
          <a:prstGeom prst="roundRect">
            <a:avLst/>
          </a:prstGeom>
          <a:solidFill>
            <a:srgbClr val="0F0F11"/>
          </a:solidFill>
          <a:ln w="12700">
            <a:solidFill>
              <a:srgbClr val="1E27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257800" y="3977639"/>
            <a:ext cx="27432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3400" b="1">
                <a:solidFill>
                  <a:srgbClr val="A4A4AC"/>
                </a:solidFill>
                <a:latin typeface="Consolas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57800" y="4892040"/>
            <a:ext cx="27432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>
                <a:solidFill>
                  <a:srgbClr val="E0B448"/>
                </a:solidFill>
                <a:latin typeface="Segoe UI"/>
              </a:rPr>
              <a:t>WARN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78240" y="3657600"/>
            <a:ext cx="2743200" cy="2011680"/>
          </a:xfrm>
          <a:prstGeom prst="roundRect">
            <a:avLst/>
          </a:prstGeom>
          <a:solidFill>
            <a:srgbClr val="0F0F11"/>
          </a:solidFill>
          <a:ln w="12700">
            <a:solidFill>
              <a:srgbClr val="1E27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78240" y="3977639"/>
            <a:ext cx="27432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3400" b="1">
                <a:solidFill>
                  <a:srgbClr val="A4A4AC"/>
                </a:solidFill>
                <a:latin typeface="Consolas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78240" y="4892040"/>
            <a:ext cx="27432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>
                <a:solidFill>
                  <a:srgbClr val="FFFFFF"/>
                </a:solidFill>
                <a:latin typeface="Segoe UI"/>
              </a:rPr>
              <a:t>PROTECT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FFFFFF"/>
                </a:solidFill>
                <a:latin typeface="Segoe UI"/>
              </a:rPr>
              <a:t>How it works: the Scam DNA Engine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2194560"/>
            <a:ext cx="2377440" cy="1645920"/>
          </a:xfrm>
          <a:prstGeom prst="roundRect">
            <a:avLst/>
          </a:prstGeom>
          <a:solidFill>
            <a:srgbClr val="0F0F11"/>
          </a:solidFill>
          <a:ln w="12700">
            <a:solidFill>
              <a:srgbClr val="1E27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2331720"/>
            <a:ext cx="210312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>
                <a:solidFill>
                  <a:srgbClr val="7FD6A6"/>
                </a:solidFill>
                <a:latin typeface="Segoe UI"/>
              </a:rPr>
              <a:t>Listen</a:t>
            </a:r>
          </a:p>
          <a:p>
            <a:pPr algn="ctr">
              <a:lnSpc>
                <a:spcPct val="115000"/>
              </a:lnSpc>
            </a:pPr>
            <a:r>
              <a:rPr sz="1800" b="1">
                <a:solidFill>
                  <a:srgbClr val="7FD6A6"/>
                </a:solidFill>
                <a:latin typeface="Segoe UI"/>
              </a:rPr>
              <a:t>(call · SMS · chat)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0" y="2468880"/>
            <a:ext cx="301752" cy="12801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800" b="1">
                <a:solidFill>
                  <a:srgbClr val="A4A4AC"/>
                </a:solidFill>
                <a:latin typeface="Segoe UI"/>
              </a:rPr>
              <a:t>→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502152" y="2194560"/>
            <a:ext cx="2377440" cy="1645920"/>
          </a:xfrm>
          <a:prstGeom prst="roundRect">
            <a:avLst/>
          </a:prstGeom>
          <a:solidFill>
            <a:srgbClr val="0F0F11"/>
          </a:solidFill>
          <a:ln w="12700">
            <a:solidFill>
              <a:srgbClr val="1E27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39312" y="2331720"/>
            <a:ext cx="210312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>
                <a:solidFill>
                  <a:srgbClr val="E0E0E5"/>
                </a:solidFill>
                <a:latin typeface="Segoe UI"/>
              </a:rPr>
              <a:t>Detect</a:t>
            </a:r>
          </a:p>
          <a:p>
            <a:pPr algn="ctr">
              <a:lnSpc>
                <a:spcPct val="115000"/>
              </a:lnSpc>
            </a:pPr>
            <a:r>
              <a:rPr sz="1800" b="1">
                <a:solidFill>
                  <a:srgbClr val="E0E0E5"/>
                </a:solidFill>
                <a:latin typeface="Segoe UI"/>
              </a:rPr>
              <a:t>manipulation DNA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79592" y="2468880"/>
            <a:ext cx="301752" cy="12801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800" b="1">
                <a:solidFill>
                  <a:srgbClr val="A4A4AC"/>
                </a:solidFill>
                <a:latin typeface="Segoe UI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81344" y="2194560"/>
            <a:ext cx="2377440" cy="1645920"/>
          </a:xfrm>
          <a:prstGeom prst="roundRect">
            <a:avLst/>
          </a:prstGeom>
          <a:solidFill>
            <a:srgbClr val="0F0F11"/>
          </a:solidFill>
          <a:ln w="12700">
            <a:solidFill>
              <a:srgbClr val="1E27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18504" y="2331720"/>
            <a:ext cx="210312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>
                <a:solidFill>
                  <a:srgbClr val="E0B448"/>
                </a:solidFill>
                <a:latin typeface="Segoe UI"/>
              </a:rPr>
              <a:t>Warn user +</a:t>
            </a:r>
          </a:p>
          <a:p>
            <a:pPr algn="ctr">
              <a:lnSpc>
                <a:spcPct val="115000"/>
              </a:lnSpc>
            </a:pPr>
            <a:r>
              <a:rPr sz="1800" b="1">
                <a:solidFill>
                  <a:srgbClr val="E0B448"/>
                </a:solidFill>
                <a:latin typeface="Segoe UI"/>
              </a:rPr>
              <a:t>alert family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58784" y="2468880"/>
            <a:ext cx="301752" cy="12801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800" b="1">
                <a:solidFill>
                  <a:srgbClr val="A4A4AC"/>
                </a:solidFill>
                <a:latin typeface="Segoe UI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860536" y="2194560"/>
            <a:ext cx="2377440" cy="1645920"/>
          </a:xfrm>
          <a:prstGeom prst="roundRect">
            <a:avLst/>
          </a:prstGeom>
          <a:solidFill>
            <a:srgbClr val="0F0F11"/>
          </a:solidFill>
          <a:ln w="12700">
            <a:solidFill>
              <a:srgbClr val="1E27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97696" y="2331720"/>
            <a:ext cx="210312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>
                <a:solidFill>
                  <a:srgbClr val="F0613F"/>
                </a:solidFill>
                <a:latin typeface="Segoe UI"/>
              </a:rPr>
              <a:t>Freeze the</a:t>
            </a:r>
          </a:p>
          <a:p>
            <a:pPr algn="ctr">
              <a:lnSpc>
                <a:spcPct val="115000"/>
              </a:lnSpc>
            </a:pPr>
            <a:r>
              <a:rPr sz="1800" b="1">
                <a:solidFill>
                  <a:srgbClr val="F0613F"/>
                </a:solidFill>
                <a:latin typeface="Segoe UI"/>
              </a:rPr>
              <a:t>payment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" y="4389120"/>
            <a:ext cx="10515600" cy="1463040"/>
          </a:xfrm>
          <a:prstGeom prst="roundRect">
            <a:avLst/>
          </a:prstGeom>
          <a:solidFill>
            <a:srgbClr val="0F0F11"/>
          </a:solidFill>
          <a:ln w="12700">
            <a:solidFill>
              <a:srgbClr val="1E27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88720" y="4617720"/>
            <a:ext cx="978408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0">
                <a:solidFill>
                  <a:srgbClr val="FFFFFF"/>
                </a:solidFill>
                <a:latin typeface="Segoe UI"/>
              </a:rPr>
              <a:t>We detect the manipulation STRUCTURE — urgency, impersonation, secrecy, irreversible payment — not keywords. Works on any call, text, or chat, in any language, on any LLM.</a:t>
            </a:r>
          </a:p>
          <a:p>
            <a:pPr algn="l">
              <a:lnSpc>
                <a:spcPct val="120000"/>
              </a:lnSpc>
            </a:pPr>
            <a:r>
              <a:rPr sz="1600" b="0">
                <a:solidFill>
                  <a:srgbClr val="FFFFFF"/>
                </a:solidFill>
                <a:latin typeface="Segoe UI"/>
              </a:rPr>
              <a:t>For real calls: a “Guardian Number” screens only UNKNOWN callers (family calls stay private), and can conference a loved one in and hold the call.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813048" y="2377440"/>
            <a:ext cx="4572000" cy="640080"/>
          </a:xfrm>
          <a:prstGeom prst="roundRect">
            <a:avLst/>
          </a:prstGeom>
          <a:solidFill>
            <a:srgbClr val="F061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Segoe UI"/>
              </a:rPr>
              <a:t>● LIVE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91840"/>
            <a:ext cx="10360152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600" b="1">
                <a:solidFill>
                  <a:srgbClr val="FFFFFF"/>
                </a:solidFill>
                <a:latin typeface="Segoe UI"/>
              </a:rPr>
              <a:t>The rescue: a cloned-voice scam call, stopped in real time.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206240"/>
            <a:ext cx="10360152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800" b="0">
                <a:solidFill>
                  <a:srgbClr val="A4A4AC"/>
                </a:solidFill>
                <a:latin typeface="Segoe UI"/>
              </a:rPr>
              <a:t>Risk meter climbs → tactics light up → daughter is alerted → $4,000 transfer frozen.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FFFFFF"/>
                </a:solidFill>
                <a:latin typeface="Segoe UI"/>
              </a:rPr>
              <a:t>Why Aegis is different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920240"/>
            <a:ext cx="3383280" cy="2743200"/>
          </a:xfrm>
          <a:prstGeom prst="roundRect">
            <a:avLst/>
          </a:prstGeom>
          <a:solidFill>
            <a:srgbClr val="0F0F11"/>
          </a:solidFill>
          <a:ln w="12700">
            <a:solidFill>
              <a:srgbClr val="1E27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" y="2240280"/>
            <a:ext cx="29260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2000" b="1">
                <a:solidFill>
                  <a:srgbClr val="E0E0E5"/>
                </a:solidFill>
                <a:latin typeface="Segoe UI"/>
              </a:rPr>
              <a:t>Preventive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3291840"/>
            <a:ext cx="292608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500" b="0">
                <a:solidFill>
                  <a:srgbClr val="A4A4AC"/>
                </a:solidFill>
                <a:latin typeface="Segoe UI"/>
              </a:rPr>
              <a:t>Acts DURING the attack — before money moves, not after.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920240"/>
            <a:ext cx="3383280" cy="2743200"/>
          </a:xfrm>
          <a:prstGeom prst="roundRect">
            <a:avLst/>
          </a:prstGeom>
          <a:solidFill>
            <a:srgbClr val="0F0F11"/>
          </a:solidFill>
          <a:ln w="12700">
            <a:solidFill>
              <a:srgbClr val="1E27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17720" y="2240280"/>
            <a:ext cx="29260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2000" b="1">
                <a:solidFill>
                  <a:srgbClr val="7FD6A6"/>
                </a:solidFill>
                <a:latin typeface="Segoe UI"/>
              </a:rPr>
              <a:t>Intent, not keywords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17720" y="3291840"/>
            <a:ext cx="292608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500" b="0">
                <a:solidFill>
                  <a:srgbClr val="A4A4AC"/>
                </a:solidFill>
                <a:latin typeface="Segoe UI"/>
              </a:rPr>
              <a:t>One engine. Every channel. Every language.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955280" y="1920240"/>
            <a:ext cx="3383280" cy="2743200"/>
          </a:xfrm>
          <a:prstGeom prst="roundRect">
            <a:avLst/>
          </a:prstGeom>
          <a:solidFill>
            <a:srgbClr val="0F0F11"/>
          </a:solidFill>
          <a:ln w="12700">
            <a:solidFill>
              <a:srgbClr val="1E27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83880" y="2240280"/>
            <a:ext cx="29260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2000" b="1">
                <a:solidFill>
                  <a:srgbClr val="E0B448"/>
                </a:solidFill>
                <a:latin typeface="Segoe UI"/>
              </a:rPr>
              <a:t>Trusted Circle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83880" y="3291840"/>
            <a:ext cx="292608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500" b="0">
                <a:solidFill>
                  <a:srgbClr val="A4A4AC"/>
                </a:solidFill>
                <a:latin typeface="Segoe UI"/>
              </a:rPr>
              <a:t>Loops in family — the real-world circuit breaker.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512064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Segoe UI"/>
              </a:rPr>
              <a:t>Cybersecurity × Fintech × Healthcare — one guardian.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FFFFFF"/>
                </a:solidFill>
                <a:latin typeface="Segoe UI"/>
              </a:rPr>
              <a:t>Impact &amp; opportunity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920240"/>
            <a:ext cx="10515600" cy="1097280"/>
          </a:xfrm>
          <a:prstGeom prst="roundRect">
            <a:avLst/>
          </a:prstGeom>
          <a:solidFill>
            <a:srgbClr val="0F0F11"/>
          </a:solidFill>
          <a:ln w="12700">
            <a:solidFill>
              <a:srgbClr val="1E27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88720" y="2011680"/>
            <a:ext cx="320040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Segoe UI"/>
              </a:rPr>
              <a:t>Who it protects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480560" y="2011680"/>
            <a:ext cx="667512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>
                <a:solidFill>
                  <a:srgbClr val="FFFFFF"/>
                </a:solidFill>
                <a:latin typeface="Segoe UI"/>
              </a:rPr>
              <a:t>1B+ elderly &amp; vulnerable people worldwide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3246120"/>
            <a:ext cx="10515600" cy="1097280"/>
          </a:xfrm>
          <a:prstGeom prst="roundRect">
            <a:avLst/>
          </a:prstGeom>
          <a:solidFill>
            <a:srgbClr val="0F0F11"/>
          </a:solidFill>
          <a:ln w="12700">
            <a:solidFill>
              <a:srgbClr val="1E27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3337560"/>
            <a:ext cx="320040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Segoe UI"/>
              </a:rPr>
              <a:t>Who pays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80560" y="3337560"/>
            <a:ext cx="667512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>
                <a:solidFill>
                  <a:srgbClr val="FFFFFF"/>
                </a:solidFill>
                <a:latin typeface="Segoe UI"/>
              </a:rPr>
              <a:t>Banks, telcos, insurers, eldercare (B2B2C) + embeddable SDK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4572000"/>
            <a:ext cx="10515600" cy="1097280"/>
          </a:xfrm>
          <a:prstGeom prst="roundRect">
            <a:avLst/>
          </a:prstGeom>
          <a:solidFill>
            <a:srgbClr val="0F0F11"/>
          </a:solidFill>
          <a:ln w="12700">
            <a:solidFill>
              <a:srgbClr val="1E27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88720" y="4663440"/>
            <a:ext cx="320040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Segoe UI"/>
              </a:rPr>
              <a:t>Why now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4663440"/>
            <a:ext cx="667512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>
                <a:solidFill>
                  <a:srgbClr val="FFFFFF"/>
                </a:solidFill>
                <a:latin typeface="Segoe UI"/>
              </a:rPr>
              <a:t>Fraud losses compounding 32%/yr; regulation tightening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594360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7FD6A6"/>
                </a:solidFill>
                <a:latin typeface="Segoe UI"/>
              </a:rPr>
              <a:t>We turn a $40B problem into a moment of safety.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005840"/>
            <a:ext cx="105156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2400" b="1">
                <a:solidFill>
                  <a:srgbClr val="FFFFFF"/>
                </a:solidFill>
                <a:latin typeface="Segoe UI"/>
              </a:rPr>
              <a:t>Today: a working prototype that detects, warns, and freezes.</a:t>
            </a:r>
          </a:p>
          <a:p>
            <a:pPr algn="ctr">
              <a:lnSpc>
                <a:spcPct val="130000"/>
              </a:lnSpc>
            </a:pPr>
            <a:r>
              <a:rPr sz="2400" b="1">
                <a:solidFill>
                  <a:srgbClr val="FFFFFF"/>
                </a:solidFill>
                <a:latin typeface="Segoe UI"/>
              </a:rPr>
              <a:t>Tomorrow: an AI guardian in every bank and phone — for everyone who’s ever been a target.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20040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0">
                <a:solidFill>
                  <a:srgbClr val="A4A4AC"/>
                </a:solidFill>
                <a:latin typeface="Segoe UI"/>
              </a:rPr>
              <a:t>Roadmap:  Guardian Number to production  →  real payment hold  →  on-device privacy  →  bank/telco SDK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194560" y="4114800"/>
            <a:ext cx="7772400" cy="1371600"/>
          </a:xfrm>
          <a:prstGeom prst="roundRect">
            <a:avLst/>
          </a:prstGeom>
          <a:solidFill>
            <a:srgbClr val="0F0F11"/>
          </a:solidFill>
          <a:ln w="12700">
            <a:solidFill>
              <a:srgbClr val="1E27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194560" y="4343400"/>
            <a:ext cx="777240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>
                <a:solidFill>
                  <a:srgbClr val="FFFFFF"/>
                </a:solidFill>
                <a:latin typeface="Georgia"/>
              </a:rPr>
              <a:t>“Scammers got an AI. It’s time the people we love got one too.”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85216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A4A4AC"/>
                </a:solidFill>
                <a:latin typeface="Segoe UI"/>
              </a:rPr>
              <a:t>AEGIS  ·  Beyond Tomorrow Summit 2026  ·  github.com/TUMO-MOGAME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
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70248" y="1188720"/>
            <a:ext cx="3657600" cy="457200"/>
          </a:xfrm>
          <a:prstGeom prst="roundRect">
            <a:avLst/>
          </a:prstGeom>
          <a:solidFill>
            <a:srgbClr val="11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0A5FA"/>
                </a:solidFill>
                <a:latin typeface="Segoe UI"/>
              </a:rPr>
              <a:t>BEYOND TOMORROW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E5E9F0"/>
                </a:solidFill>
                <a:latin typeface="Segoe UI"/>
              </a:rPr>
              <a:t>🛡️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0A5FA"/>
                </a:solidFill>
                <a:latin typeface="Segoe UI"/>
              </a:rPr>
              <a:t>Stop scams before they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An AI guardian that detects manipulation in any conversation — voice, SMS, or chat — and intervenes in real time to protect vulnerable people and their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Cybersecurity  ×  Fintech  ×  Health      |      Powered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5E9F0"/>
                </a:solidFill>
                <a:latin typeface="Segoe UI"/>
              </a:rPr>
              <a:t>It starts with a phone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2918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E5E9F0"/>
                </a:solidFill>
                <a:latin typeface="Segoe UI"/>
              </a:rPr>
              <a:t>“Margaret, 72, gets a call. It’s her grandson’s voice.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E5E9F0"/>
                </a:solidFill>
                <a:latin typeface="Segoe UI"/>
              </a:rPr>
              <a:t>He’s in jail. He needs $4,000 — now.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E5E9F0"/>
                </a:solidFill>
                <a:latin typeface="Segoe UI"/>
              </a:rPr>
              <a:t>And please… don’t tell mom.”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9E0B"/>
                </a:solidFill>
                <a:latin typeface="Segoe UI"/>
              </a:rPr>
              <a:t>The voice is perfect. It’s also completely fake — cloned from 3 seconds of audio.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9E0B"/>
                </a:solidFill>
                <a:latin typeface="Segoe UI"/>
              </a:rPr>
              <a:t>This happens every 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5E9F0"/>
                </a:solidFill>
                <a:latin typeface="Segoe UI"/>
              </a:rPr>
              <a:t>AI made scams infinitely scalable. Our defenses didn’t keep 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514600" cy="25603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F4444"/>
                </a:solidFill>
                <a:latin typeface="Segoe UI"/>
              </a:rPr>
              <a:t>$40B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projected AI-fraud losses by 2027 (Deloitte)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14600" cy="25603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59E0B"/>
                </a:solidFill>
                <a:latin typeface="Segoe UI"/>
              </a:rPr>
              <a:t>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of audio to clone a voice — 70% can’t tell (AARP)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2011680"/>
            <a:ext cx="2514600" cy="25603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9904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59E0B"/>
                </a:solidFill>
                <a:latin typeface="Segoe UI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of voice-clone scam victims lose money (McAfee)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3376" y="2011680"/>
            <a:ext cx="2514600" cy="25603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3376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F4444"/>
                </a:solidFill>
                <a:latin typeface="Segoe UI"/>
              </a:rPr>
              <a:t>every 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a deepfake fraud attempt occurs (Entrust)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5E9F0"/>
                </a:solidFill>
                <a:latin typeface="Segoe UI"/>
              </a:rPr>
              <a:t>This isn’t a future problem. It’s happening now — to the people we love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5E9F0"/>
                </a:solidFill>
                <a:latin typeface="Segoe UI"/>
              </a:rPr>
              <a:t>Why today’s defenses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28016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9339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F4444"/>
                </a:solidFill>
                <a:latin typeface="Segoe UI"/>
              </a:rPr>
              <a:t>⏰ 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9339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Banks catch fraud AFTER the money is gone. The loss already happened.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10515600" cy="128016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0215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F4444"/>
                </a:solidFill>
                <a:latin typeface="Segoe UI"/>
              </a:rPr>
              <a:t>🔑  Keyword-based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0215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AI scams rewrite themselves endlessly and walk right past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10515600" cy="128016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1091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F4444"/>
                </a:solidFill>
                <a:latin typeface="Segoe UI"/>
              </a:rPr>
              <a:t>🕳️  No human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01091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The victim is alone with the attacker. Nobody steps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E5E9F0"/>
                </a:solidFill>
                <a:latin typeface="Segoe UI"/>
              </a:rPr>
              <a:t>Meet 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60A5FA"/>
                </a:solidFill>
                <a:latin typeface="Segoe UI"/>
              </a:rPr>
              <a:t>An AI guardian that detects manipulation in real time — and intervenes before money is lost.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3657600"/>
            <a:ext cx="2743200" cy="20116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E5E9F0"/>
                </a:solidFill>
                <a:latin typeface="Segoe U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2C55E"/>
                </a:solidFill>
                <a:latin typeface="Segoe UI"/>
              </a:rP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657600"/>
            <a:ext cx="2743200" cy="20116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E5E9F0"/>
                </a:solidFill>
                <a:latin typeface="Segoe UI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59E0B"/>
                </a:solidFill>
                <a:latin typeface="Segoe UI"/>
              </a:rPr>
              <a:t>WARN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657600"/>
            <a:ext cx="2743200" cy="20116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E5E9F0"/>
                </a:solidFill>
                <a:latin typeface="Segoe UI"/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B82F6"/>
                </a:solidFill>
                <a:latin typeface="Segoe UI"/>
              </a:rPr>
              <a:t>PROTECT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5E9F0"/>
                </a:solidFill>
                <a:latin typeface="Segoe UI"/>
              </a:rPr>
              <a:t>How it works: the Scam DNA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37744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2C55E"/>
                </a:solidFill>
                <a:latin typeface="Segoe UI"/>
              </a:rPr>
              <a:t>Listen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2C55E"/>
                </a:solidFill>
                <a:latin typeface="Segoe UI"/>
              </a:rPr>
              <a:t>(call · SMS · chat)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194560"/>
            <a:ext cx="237744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Segoe UI"/>
              </a:rPr>
              <a:t>Detect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B82F6"/>
                </a:solidFill>
                <a:latin typeface="Segoe UI"/>
              </a:rPr>
              <a:t>manipulation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194560"/>
            <a:ext cx="237744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Warn user +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alert 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0536" y="2194560"/>
            <a:ext cx="237744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F4444"/>
                </a:solidFill>
                <a:latin typeface="Segoe UI"/>
              </a:rPr>
              <a:t>Freeze the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F4444"/>
                </a:solidFill>
                <a:latin typeface="Segoe UI"/>
              </a:rPr>
              <a:t>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10515600" cy="14630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9784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E5E9F0"/>
                </a:solidFill>
                <a:latin typeface="Segoe UI"/>
              </a:rPr>
              <a:t>We detect the manipulation STRUCTURE — urgency, impersonation, secrecy, irreversible payment — not keywords.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E5E9F0"/>
                </a:solidFill>
                <a:latin typeface="Segoe UI"/>
              </a:rPr>
              <a:t>So it works on any call, text, or chat, in any language.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3048" y="2377440"/>
            <a:ext cx="457200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5E9F0"/>
                </a:solidFill>
                <a:latin typeface="Segoe UI"/>
              </a:rPr>
              <a:t>●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5E9F0"/>
                </a:solidFill>
                <a:latin typeface="Segoe UI"/>
              </a:rPr>
              <a:t>The rescue: a cloned-voice scam call, stopped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94A3B8"/>
                </a:solidFill>
                <a:latin typeface="Segoe UI"/>
              </a:rPr>
              <a:t>Risk meter climbs → tactics light up → daughter is alerted → $4,000 transfer frozen.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5E9F0"/>
                </a:solidFill>
                <a:latin typeface="Segoe UI"/>
              </a:rPr>
              <a:t>Why Aegis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83280" cy="27432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B82F6"/>
                </a:solidFill>
                <a:latin typeface="Segoe UI"/>
              </a:rPr>
              <a:t>Preventive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Acts DURING the attack — before money moves, not after.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27432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2C55E"/>
                </a:solidFill>
                <a:latin typeface="Segoe UI"/>
              </a:rPr>
              <a:t>Intent, not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One engine. Every channel. Every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383280" cy="27432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59E0B"/>
                </a:solidFill>
                <a:latin typeface="Segoe UI"/>
              </a:rPr>
              <a:t>Trusted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Loops in family — the real-world circuit breaker.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60A5FA"/>
                </a:solidFill>
                <a:latin typeface="Segoe UI"/>
              </a:rPr>
              <a:t>Cybersecurity × Fintech × Healthcare — one guardian.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5E9F0"/>
                </a:solidFill>
                <a:latin typeface="Segoe UI"/>
              </a:rPr>
              <a:t>Impact &amp;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10972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0A5FA"/>
                </a:solidFill>
                <a:latin typeface="Segoe UI"/>
              </a:rPr>
              <a:t>Who it protects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1168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5E9F0"/>
                </a:solidFill>
                <a:latin typeface="Segoe UI"/>
              </a:rPr>
              <a:t>1B+ elderly &amp; vulnerable people worldwide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0515600" cy="10972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0A5FA"/>
                </a:solidFill>
                <a:latin typeface="Segoe UI"/>
              </a:rPr>
              <a:t>Who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33756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5E9F0"/>
                </a:solidFill>
                <a:latin typeface="Segoe UI"/>
              </a:rPr>
              <a:t>Banks, telcos, insurers, eldercare (B2B2C) + embeddable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10515600" cy="10972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6344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0A5FA"/>
                </a:solidFill>
                <a:latin typeface="Segoe UI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66344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5E9F0"/>
                </a:solidFill>
                <a:latin typeface="Segoe UI"/>
              </a:rPr>
              <a:t>Fraud losses compounding 32%/yr; regulation tightening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2C55E"/>
                </a:solidFill>
                <a:latin typeface="Segoe UI"/>
              </a:rPr>
              <a:t>We turn a $40B problem into a moment of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E5E9F0"/>
                </a:solidFill>
                <a:latin typeface="Segoe UI"/>
              </a:rPr>
              <a:t>Today: a working prototype that detects, warns, and freezes.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E5E9F0"/>
                </a:solidFill>
                <a:latin typeface="Segoe UI"/>
              </a:rPr>
              <a:t>Tomorrow: an AI guardian in every bank and phone — for everyone who’s ever been a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Roadmap:  deepfake-audio model  →  bank SDK  →  on-device privacy  →  global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114800"/>
            <a:ext cx="7772400" cy="13716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34340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60A5FA"/>
                </a:solidFill>
                <a:latin typeface="Segoe UI"/>
              </a:rPr>
              <a:t>“Scammers got an AI. It’s time the rest of us got one too.”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AEGIS  ·  Beyond Tomorrow Summit 2026  ·  github.com/TUMO-MOGAME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